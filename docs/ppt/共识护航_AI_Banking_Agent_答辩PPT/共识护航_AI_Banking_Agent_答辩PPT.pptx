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2" Type="http://schemas.openxmlformats.org/officeDocument/2006/relationships/notesMaster" Target="notesMasters/notesMaster1.xml" 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linear-gradient(135deg, #0f172a 0%, #1a73e8 100%)', padding: 90 }}&gt;&#10;  &lt;Box style={{ flex: 1, justifyContent: 'center', gap: 22 }}&gt;&#10;    &lt;Box style={{ width: 90, height: 8, background: '#ffffff', borderRadius: 4 }} /&gt;&#10;    &lt;Text style={{ fontSize: 58, fontWeight: 'bold', color: '#ffffff', letterSpacing: 2 }}&gt;共识护航&lt;/Text&gt;&#10;    &lt;Text style={{ fontSize: 26, color: '#e8f0fe' }}&gt;一起算账 · 各自授权 · 证据核验&lt;/Text&gt;&#10;    &lt;Text style={{ fontSize: 18, color: '#c7d9f7', marginTop: 8 }}&gt;银行 AI 智能体 · 面向合租 / 家庭月末共同开销结算&lt;/Text&gt;&#10;    &lt;Text style={{ fontSize: 14, color: '#a9c3ee', marginTop: 30 }}&gt;2026 深圳国际金融科技大赛 · 国内人工智能赛道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A73E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57250" y="2124075"/>
            <a:ext cx="857250" cy="76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57250" y="2409825"/>
            <a:ext cx="10477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FFFFF"/>
                </a:solidFill>
                <a:latin typeface="Microsoft YaHei"/>
                <a:ea typeface="Microsoft YaHei"/>
              </a:rPr>
              <a:t>共识护航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57250" y="3286125"/>
            <a:ext cx="10477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E8F0FE"/>
                </a:solidFill>
                <a:latin typeface="Microsoft YaHei"/>
                <a:ea typeface="Microsoft YaHei"/>
              </a:rPr>
              <a:t>一起算账</a:t>
            </a:r>
            <a:r>
              <a:rPr lang="en-US" sz="1950">
                <a:solidFill>
                  <a:srgbClr val="E8F0F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950">
                <a:solidFill>
                  <a:srgbClr val="E8F0FE"/>
                </a:solidFill>
                <a:latin typeface="Microsoft YaHei"/>
                <a:ea typeface="Microsoft YaHei"/>
              </a:rPr>
              <a:t>各自授权</a:t>
            </a:r>
            <a:r>
              <a:rPr lang="en-US" sz="1950">
                <a:solidFill>
                  <a:srgbClr val="E8F0F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950">
                <a:solidFill>
                  <a:srgbClr val="E8F0FE"/>
                </a:solidFill>
                <a:latin typeface="Microsoft YaHei"/>
                <a:ea typeface="Microsoft YaHei"/>
              </a:rPr>
              <a:t>证据核验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57250" y="3876675"/>
            <a:ext cx="1047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7D9F7"/>
                </a:solidFill>
                <a:latin typeface="Microsoft YaHei"/>
                <a:ea typeface="Microsoft YaHei"/>
              </a:rPr>
              <a:t>银行</a:t>
            </a:r>
            <a:r>
              <a:rPr lang="en-US" sz="1350">
                <a:solidFill>
                  <a:srgbClr val="C7D9F7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350">
                <a:solidFill>
                  <a:srgbClr val="C7D9F7"/>
                </a:solidFill>
                <a:latin typeface="Microsoft YaHei"/>
                <a:ea typeface="Microsoft YaHei"/>
              </a:rPr>
              <a:t>智能体</a:t>
            </a:r>
            <a:r>
              <a:rPr lang="en-US" sz="1350">
                <a:solidFill>
                  <a:srgbClr val="C7D9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C7D9F7"/>
                </a:solidFill>
                <a:latin typeface="Microsoft YaHei"/>
                <a:ea typeface="Microsoft YaHei"/>
              </a:rPr>
              <a:t>面向合租</a:t>
            </a:r>
            <a:r>
              <a:rPr lang="en-US" sz="1350">
                <a:solidFill>
                  <a:srgbClr val="C7D9F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C7D9F7"/>
                </a:solidFill>
                <a:latin typeface="Microsoft YaHei"/>
                <a:ea typeface="Microsoft YaHei"/>
              </a:rPr>
              <a:t>家庭月末共同开销结算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57250" y="4581525"/>
            <a:ext cx="1047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C3EE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A9C3EE"/>
                </a:solidFill>
                <a:latin typeface="Microsoft YaHei"/>
                <a:ea typeface="Microsoft YaHei"/>
              </a:rPr>
              <a:t>深圳国际金融科技大赛</a:t>
            </a:r>
            <a:r>
              <a:rPr lang="en-US" sz="1050">
                <a:solidFill>
                  <a:srgbClr val="A9C3E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A9C3EE"/>
                </a:solidFill>
                <a:latin typeface="Microsoft YaHei"/>
                <a:ea typeface="Microsoft YaHei"/>
              </a:rPr>
              <a:t>国内人工智能赛道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0" name="" descr="&lt;Slide style={{ padding: 48, background: '#ffffff' }}&gt;&#10;  &lt;Text style={{ fontSize: 30, fontWeight: 'bold', color: '#0f172a', marginBottom: 8 }}&gt;问题与场景&lt;/Text&gt;&#10;  &lt;Box style={{ width: 60, height: 5, background: '#1a73e8', borderRadius: 3, marginBottom: 28 }} /&gt;&#10;  &lt;Box style={{ flexDirection: 'row', gap: 20 }}&gt;&#10;    &lt;Box style={{ flex: 1, background: '#f0f4f8', borderRadius: 12, padding: 26, gap: 14 }}&gt;&#10;      &lt;Text style={{ fontSize: 20, fontWeight: 'bold', color: '#d93025' }}&gt;合租 / 家庭月末结算的痛点&lt;/Text&gt;&#10;      &lt;Text style={{ fontSize: 15, color: '#334155', lineHeight: 1.6 }}&gt;&#10;        &lt;span style={{ fontWeight: 'bold' }}&gt;① 多人分摊易错&lt;/span&gt;：电费按入住天数、宽带均分，手工算容易差一分一厘&lt;br /&gt;&lt;br /&gt;&#10;        &lt;span style={{ fontWeight: 'bold' }}&gt;② 可疑扣费难核验&lt;/span&gt;：两笔同额扣费，是重复还是两个会员？&lt;br /&gt;&lt;br /&gt;&#10;        &lt;span style={{ fontWeight: 'bold' }}&gt;③ 账户边界模糊&lt;/span&gt;：家人代办，一不小心就越权查余额、替人付款&#10;      &lt;/Text&gt;&#10;    &lt;/Box&gt;&#10;    &lt;Box style={{ flex: 1, background: '#e8f0fe', borderRadius: 12, padding: 26, gap: 14 }}&gt;&#10;      &lt;Text style={{ fontSize: 20, fontWeight: 'bold', color: '#1a73e8' }}&gt;一句自然语言需求&lt;/Text&gt;&#10;      &lt;Text style={{ fontSize: 16, color: '#0f172a', lineHeight: 1.8, background: '#ffffff', borderRadius: 8, padding: 16 }}&gt;&#10;        “帮我们结算本月共同开销，电费按入住天数分，停掉不用的共同会员。妈妈说有一笔陌生扣费，先核实。每个人留够下月开销，再分别安排自己的余钱。”&#10;      &lt;/Text&gt;&#10;      &lt;Text style={{ fontSize: 14, color: '#64748b' }}&gt;目标：把它变成一个可授权、可核验、可恢复的银行任务链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57200" y="457200"/>
            <a:ext cx="11277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问题与场景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457200" y="876300"/>
            <a:ext cx="571500" cy="47625"/>
          </a:xfrm>
          <a:prstGeom prst="roundRect">
            <a:avLst>
              <a:gd name="adj" fmla="val 60000"/>
            </a:avLst>
          </a:prstGeom>
          <a:solidFill>
            <a:srgbClr val="1A73E8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457200" y="1190625"/>
            <a:ext cx="5543550" cy="2447925"/>
          </a:xfrm>
          <a:prstGeom prst="roundRect">
            <a:avLst>
              <a:gd name="adj" fmla="val 4669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04850" y="1438275"/>
            <a:ext cx="5048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93025"/>
                </a:solidFill>
                <a:latin typeface="Microsoft YaHei"/>
                <a:ea typeface="Microsoft YaHei"/>
              </a:rPr>
              <a:t>合租</a:t>
            </a:r>
            <a:r>
              <a:rPr lang="en-US" sz="1500" b="1">
                <a:solidFill>
                  <a:srgbClr val="D93025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 b="1">
                <a:solidFill>
                  <a:srgbClr val="D93025"/>
                </a:solidFill>
                <a:latin typeface="Microsoft YaHei"/>
                <a:ea typeface="Microsoft YaHei"/>
              </a:rPr>
              <a:t>家庭月末结算的痛点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04850" y="1800225"/>
            <a:ext cx="5048250" cy="1371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 b="1">
                <a:solidFill>
                  <a:srgbClr val="334155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125" b="1">
                <a:solidFill>
                  <a:srgbClr val="334155"/>
                </a:solidFill>
                <a:latin typeface="Microsoft YaHei"/>
                <a:ea typeface="Microsoft YaHei"/>
              </a:rPr>
              <a:t>多人分摊易错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：电费按入住天数、宽带均分，手工算容易差一分一厘</a:t>
            </a:r>
            <a:endParaRPr/>
          </a:p>
          <a:p>
            <a:pPr>
              <a:lnSpc>
                <a:spcPct val="160000"/>
              </a:lnSpc>
            </a:pPr>
            <a:r>
              <a:rPr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60000"/>
              </a:lnSpc>
            </a:pPr>
            <a:r>
              <a:rPr lang="en-US" sz="1125" b="1">
                <a:solidFill>
                  <a:srgbClr val="334155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125" b="1">
                <a:solidFill>
                  <a:srgbClr val="334155"/>
                </a:solidFill>
                <a:latin typeface="Microsoft YaHei"/>
                <a:ea typeface="Microsoft YaHei"/>
              </a:rPr>
              <a:t>可疑扣费难核验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：两笔同额扣费，是重复还是两个会员？</a:t>
            </a:r>
            <a:endParaRPr/>
          </a:p>
          <a:p>
            <a:pPr>
              <a:lnSpc>
                <a:spcPct val="160000"/>
              </a:lnSpc>
            </a:pPr>
            <a:r>
              <a:rPr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60000"/>
              </a:lnSpc>
            </a:pPr>
            <a:r>
              <a:rPr lang="en-US" sz="1125" b="1">
                <a:solidFill>
                  <a:srgbClr val="334155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125" b="1">
                <a:solidFill>
                  <a:srgbClr val="334155"/>
                </a:solidFill>
                <a:latin typeface="Microsoft YaHei"/>
                <a:ea typeface="Microsoft YaHei"/>
              </a:rPr>
              <a:t>账户边界模糊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：家人代办，一不小心就越权查余额、替人付款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191250" y="1190625"/>
            <a:ext cx="5543550" cy="2447925"/>
          </a:xfrm>
          <a:prstGeom prst="roundRect">
            <a:avLst>
              <a:gd name="adj" fmla="val 4669"/>
            </a:avLst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438900" y="1438275"/>
            <a:ext cx="5048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73E8"/>
                </a:solidFill>
                <a:latin typeface="Microsoft YaHei"/>
                <a:ea typeface="Microsoft YaHei"/>
              </a:rPr>
              <a:t>一句自然语言需求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438900" y="1800225"/>
            <a:ext cx="50482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438900" y="1800225"/>
            <a:ext cx="5048250" cy="1295400"/>
          </a:xfrm>
          <a:prstGeom prst="rect"/>
        </p:spPr>
        <p:txBody>
          <a:bodyPr wrap="square" lIns="114300" tIns="114300" rIns="114300" bIns="11430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0F172A"/>
                </a:solidFill>
                <a:highlight>
                  <a:srgbClr val="FFFFFF"/>
                </a:highlight>
                <a:latin typeface="Microsoft YaHei"/>
                <a:ea typeface="Microsoft YaHei"/>
              </a:rPr>
              <a:t>“帮我们结算本月共同开销，电费按入住天数分，停掉不用的共同会员。妈妈说有一笔陌生扣费，先核实。每个人留够下月开销，再分别安排自己的余钱。”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438900" y="3228975"/>
            <a:ext cx="504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目标：把它变成一个可授权、可核验、可恢复的银行任务链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2" name="" descr="&lt;Slide style={{ padding: 48, background: '#ffffff' }}&gt;&#10;  &lt;Text style={{ fontSize: 30, fontWeight: 'bold', color: '#0f172a', marginBottom: 8 }}&gt;产品定位：三个核心机制&lt;/Text&gt;&#10;  &lt;Box style={{ width: 60, height: 5, background: '#1a73e8', borderRadius: 3, marginBottom: 28 }} /&gt;&#10;  &lt;Box style={{ flexDirection: 'row', gap: 20 }}&gt;&#10;    &lt;Box style={{ flex: 1, borderRadius: 12, padding: 26, background: '#f0f4f8', borderTop: '5px solid #1a73e8', gap: 10 }}&gt;&#10;      &lt;Text style={{ fontSize: 22, fontWeight: 'bold', color: '#0f172a' }}&gt;① 有版本的共识账本&lt;/Text&gt;&#10;      &lt;Text style={{ fontSize: 15, color: '#334155', lineHeight: 1.6 }}&gt;&#10;        记录费用项目、参与者、分摊方式、权重、有效期、版本与成员确认。规则变更影响后续付款与授权。&#10;      &lt;/Text&gt;&#10;    &lt;/Box&gt;&#10;    &lt;Box style={{ flex: 1, borderRadius: 12, padding: 26, background: '#fef7e0', borderTop: '5px solid #b26a00', gap: 10 }}&gt;&#10;      &lt;Text style={{ fontSize: 22, fontWeight: 'bold', color: '#0f172a' }}&gt;② 证据卡驱动核验&lt;/Text&gt;&#10;      &lt;Text style={{ fontSize: 15, color: '#334155', lineHeight: 1.6 }}&gt;&#10;        关联交易号、商户别名、订阅授权、时间与用户反馈。证据不足时保持「待核验」，不直接认定盗刷。&#10;      &lt;/Text&gt;&#10;    &lt;/Box&gt;&#10;    &lt;Box style={{ flex: 1, borderRadius: 12, padding: 26, background: '#e6f4ea', borderTop: '5px solid #1e8e3e', gap: 10 }}&gt;&#10;      &lt;Text style={{ fontSize: 22, fontWeight: 'bold', color: '#0f172a' }}&gt;③ 共同看进度、个人管资金&lt;/Text&gt;&#10;      &lt;Text style={{ fontSize: 15, color: '#334155', lineHeight: 1.6 }}&gt;&#10;        共享空间仅展示获准共享的结算状态；余额、流水、问卷、持仓留在本人私有空间。&#10;      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57200" y="457200"/>
            <a:ext cx="11277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产品定位：三个核心机制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457200" y="876300"/>
            <a:ext cx="571500" cy="47625"/>
          </a:xfrm>
          <a:prstGeom prst="roundRect">
            <a:avLst>
              <a:gd name="adj" fmla="val 60000"/>
            </a:avLst>
          </a:prstGeom>
          <a:solidFill>
            <a:srgbClr val="1A73E8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457200" y="1238250"/>
            <a:ext cx="3629025" cy="1724025"/>
          </a:xfrm>
          <a:prstGeom prst="roundRect">
            <a:avLst>
              <a:gd name="adj" fmla="val 6630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457200" y="1238250"/>
            <a:ext cx="3629025" cy="1724025"/>
          </a:xfrm>
          <a:custGeom>
            <a:pathLst>
              <a:path w="381" h="181">
                <a:moveTo>
                  <a:pt x="370" y="0"/>
                </a:moveTo>
                <a:cubicBezTo>
                  <a:pt x="375" y="0"/>
                  <a:pt x="380" y="4"/>
                  <a:pt x="381" y="10"/>
                </a:cubicBezTo>
                <a:cubicBezTo>
                  <a:pt x="380" y="7"/>
                  <a:pt x="377" y="5"/>
                  <a:pt x="374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9" y="0"/>
                </a:ln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04850" y="1485900"/>
            <a:ext cx="3133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有版本的共识账本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04850" y="1838325"/>
            <a:ext cx="31337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记录费用项目、参与者、分摊方式、权重、有效期、版本与成员确认。规则变更影响后续付款与授权。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4276725" y="1238250"/>
            <a:ext cx="3638550" cy="1724025"/>
          </a:xfrm>
          <a:prstGeom prst="roundRect">
            <a:avLst>
              <a:gd name="adj" fmla="val 6630"/>
            </a:avLst>
          </a:prstGeom>
          <a:solidFill>
            <a:srgbClr val="FEF7E0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4276725" y="1238250"/>
            <a:ext cx="3638550" cy="1724025"/>
          </a:xfrm>
          <a:custGeom>
            <a:pathLst>
              <a:path w="382" h="181">
                <a:moveTo>
                  <a:pt x="371" y="0"/>
                </a:moveTo>
                <a:cubicBezTo>
                  <a:pt x="376" y="0"/>
                  <a:pt x="381" y="4"/>
                  <a:pt x="382" y="10"/>
                </a:cubicBezTo>
                <a:cubicBezTo>
                  <a:pt x="381" y="7"/>
                  <a:pt x="378" y="5"/>
                  <a:pt x="375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70" y="0"/>
                </a:lnTo>
                <a:close/>
              </a:path>
            </a:pathLst>
          </a:custGeom>
          <a:solidFill>
            <a:srgbClr val="B26A00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524375" y="14859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证据卡驱动核验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524375" y="1838325"/>
            <a:ext cx="31432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关联交易号、商户别名、订阅授权、时间与用户反馈。证据不足时保持「待核验」，不直接认定盗刷。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105775" y="1238250"/>
            <a:ext cx="3629025" cy="1724025"/>
          </a:xfrm>
          <a:prstGeom prst="roundRect">
            <a:avLst>
              <a:gd name="adj" fmla="val 6630"/>
            </a:avLst>
          </a:prstGeom>
          <a:solidFill>
            <a:srgbClr val="E6F4EA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8105775" y="1238250"/>
            <a:ext cx="3629025" cy="1724025"/>
          </a:xfrm>
          <a:custGeom>
            <a:pathLst>
              <a:path w="381" h="181">
                <a:moveTo>
                  <a:pt x="370" y="0"/>
                </a:moveTo>
                <a:cubicBezTo>
                  <a:pt x="375" y="0"/>
                  <a:pt x="380" y="4"/>
                  <a:pt x="381" y="10"/>
                </a:cubicBezTo>
                <a:cubicBezTo>
                  <a:pt x="380" y="7"/>
                  <a:pt x="377" y="5"/>
                  <a:pt x="374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9" y="0"/>
                </a:lnTo>
                <a:close/>
              </a:path>
            </a:pathLst>
          </a:custGeom>
          <a:solidFill>
            <a:srgbClr val="1E8E3E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353425" y="1485900"/>
            <a:ext cx="3133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共同看进度、个人管资金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353425" y="1838325"/>
            <a:ext cx="31337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共享空间仅展示获准共享的结算状态；余额、流水、问卷、持仓留在本人私有空间。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8" name="" descr="&lt;Slide style={{ padding: 48, background: '#ffffff' }}&gt;&#10;  &lt;Text style={{ fontSize: 30, fontWeight: 'bold', color: '#0f172a', marginBottom: 8 }}&gt;六场景全覆盖&lt;/Text&gt;&#10;  &lt;Box style={{ width: 60, height: 5, background: '#1a73e8', borderRadius: 3, marginBottom: 24 }} /&gt;&#10;  &lt;Box style={{ flexDirection: 'row', flexWrap: 'wrap', gap: 14 }}&gt;&#10;    {[&#10;      { t: '智能转账', d: '收款人检索·同名澄清·定时·AA·幂等回读', c: '#1a73e8' },&#10;      { t: '账单分析', d: '去重·分类·月/年报·异常候选', c: '#1a73e8' },&#10;      { t: '理财操作', d: '问卷适配·申购·赎回(申请≠到账)', c: '#1a73e8' },&#10;      { t: '卡片管理', d: '虚拟卡·额度·限制·挂失/解挂', c: '#1a73e8' },&#10;      { t: '订阅/代扣', d: '周期识别·授权查询·取消回读', c: '#1a73e8' },&#10;      { t: '跨场景联动', d: '有依赖任务链 + 异常处置支线', c: '#d93025' },&#10;    ].map((x, i) =&gt; (&#10;      &lt;Box key={i} style={{ width: 380, borderRadius: 12, padding: 20, background: '#f0f4f8', gap: 6, borderLeft: '5px solid ' + x.c }}&gt;&#10;        &lt;Text style={{ fontSize: 19, fontWeight: 'bold', color: '#0f172a' }}&gt;{x.t}&lt;/Text&gt;&#10;        &lt;Text style={{ fontSize: 14, color: '#64748b' }}&gt;{x.d}&lt;/Text&gt;&#10;      &lt;/Box&gt;&#10;    ))}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57200" y="457200"/>
            <a:ext cx="11277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六场景全覆盖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57200" y="876300"/>
            <a:ext cx="571500" cy="47625"/>
          </a:xfrm>
          <a:prstGeom prst="roundRect">
            <a:avLst>
              <a:gd name="adj" fmla="val 60000"/>
            </a:avLst>
          </a:prstGeom>
          <a:solidFill>
            <a:srgbClr val="1A73E8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504825" y="1152525"/>
            <a:ext cx="3571875" cy="819150"/>
          </a:xfrm>
          <a:prstGeom prst="roundRect">
            <a:avLst>
              <a:gd name="adj" fmla="val 13953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504825" y="1152525"/>
            <a:ext cx="3571875" cy="819150"/>
          </a:xfrm>
          <a:custGeom>
            <a:pathLst>
              <a:path w="375" h="86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9"/>
                </a:lnTo>
                <a:cubicBezTo>
                  <a:pt x="5" y="82"/>
                  <a:pt x="7" y="85"/>
                  <a:pt x="10" y="86"/>
                </a:cubicBezTo>
                <a:cubicBezTo>
                  <a:pt x="4" y="85"/>
                  <a:pt x="0" y="80"/>
                  <a:pt x="0" y="7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95325" y="1343025"/>
            <a:ext cx="3190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智能转账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95325" y="1619250"/>
            <a:ext cx="3190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收款人检索·同名澄清·定时·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AA·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幂等回读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4257675" y="1152525"/>
            <a:ext cx="3571875" cy="819150"/>
          </a:xfrm>
          <a:prstGeom prst="roundRect">
            <a:avLst>
              <a:gd name="adj" fmla="val 13953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4257675" y="1152525"/>
            <a:ext cx="3571875" cy="819150"/>
          </a:xfrm>
          <a:custGeom>
            <a:pathLst>
              <a:path w="375" h="86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9"/>
                </a:lnTo>
                <a:cubicBezTo>
                  <a:pt x="5" y="82"/>
                  <a:pt x="7" y="85"/>
                  <a:pt x="10" y="86"/>
                </a:cubicBezTo>
                <a:cubicBezTo>
                  <a:pt x="4" y="85"/>
                  <a:pt x="0" y="80"/>
                  <a:pt x="0" y="7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448175" y="1343025"/>
            <a:ext cx="3190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账单分析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448175" y="1619250"/>
            <a:ext cx="3190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去重·分类·月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年报·异常候选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8010525" y="1152525"/>
            <a:ext cx="3571875" cy="819150"/>
          </a:xfrm>
          <a:prstGeom prst="roundRect">
            <a:avLst>
              <a:gd name="adj" fmla="val 13953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8010525" y="1152525"/>
            <a:ext cx="3571875" cy="819150"/>
          </a:xfrm>
          <a:custGeom>
            <a:pathLst>
              <a:path w="375" h="86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9"/>
                </a:lnTo>
                <a:cubicBezTo>
                  <a:pt x="5" y="82"/>
                  <a:pt x="7" y="85"/>
                  <a:pt x="10" y="86"/>
                </a:cubicBezTo>
                <a:cubicBezTo>
                  <a:pt x="4" y="85"/>
                  <a:pt x="0" y="80"/>
                  <a:pt x="0" y="7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201025" y="1343025"/>
            <a:ext cx="3190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理财操作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201025" y="1619250"/>
            <a:ext cx="3190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问卷适配·申购·赎回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(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申请≠到账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504825" y="2105025"/>
            <a:ext cx="3571875" cy="819150"/>
          </a:xfrm>
          <a:prstGeom prst="roundRect">
            <a:avLst>
              <a:gd name="adj" fmla="val 13953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504825" y="2105025"/>
            <a:ext cx="3571875" cy="819150"/>
          </a:xfrm>
          <a:custGeom>
            <a:pathLst>
              <a:path w="375" h="86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9"/>
                </a:lnTo>
                <a:cubicBezTo>
                  <a:pt x="5" y="82"/>
                  <a:pt x="7" y="85"/>
                  <a:pt x="10" y="86"/>
                </a:cubicBezTo>
                <a:cubicBezTo>
                  <a:pt x="4" y="85"/>
                  <a:pt x="0" y="80"/>
                  <a:pt x="0" y="7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95325" y="2295525"/>
            <a:ext cx="3190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卡片管理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95325" y="2571750"/>
            <a:ext cx="3190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虚拟卡·额度·限制·挂失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解挂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4257675" y="2105025"/>
            <a:ext cx="3571875" cy="819150"/>
          </a:xfrm>
          <a:prstGeom prst="roundRect">
            <a:avLst>
              <a:gd name="adj" fmla="val 13953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4257675" y="2105025"/>
            <a:ext cx="3571875" cy="819150"/>
          </a:xfrm>
          <a:custGeom>
            <a:pathLst>
              <a:path w="375" h="86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9"/>
                </a:lnTo>
                <a:cubicBezTo>
                  <a:pt x="5" y="82"/>
                  <a:pt x="7" y="85"/>
                  <a:pt x="10" y="86"/>
                </a:cubicBezTo>
                <a:cubicBezTo>
                  <a:pt x="4" y="85"/>
                  <a:pt x="0" y="80"/>
                  <a:pt x="0" y="7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448175" y="2295525"/>
            <a:ext cx="3190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订阅</a:t>
            </a: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/</a:t>
            </a: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代扣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448175" y="2571750"/>
            <a:ext cx="3190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周期识别·授权查询·取消回读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8010525" y="2105025"/>
            <a:ext cx="3571875" cy="819150"/>
          </a:xfrm>
          <a:prstGeom prst="roundRect">
            <a:avLst>
              <a:gd name="adj" fmla="val 13953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8010525" y="2105025"/>
            <a:ext cx="3571875" cy="819150"/>
          </a:xfrm>
          <a:custGeom>
            <a:pathLst>
              <a:path w="375" h="86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9"/>
                </a:lnTo>
                <a:cubicBezTo>
                  <a:pt x="5" y="82"/>
                  <a:pt x="7" y="85"/>
                  <a:pt x="10" y="86"/>
                </a:cubicBezTo>
                <a:cubicBezTo>
                  <a:pt x="4" y="85"/>
                  <a:pt x="0" y="80"/>
                  <a:pt x="0" y="7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93025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201025" y="2295525"/>
            <a:ext cx="3190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跨场景联动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201025" y="2571750"/>
            <a:ext cx="3190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有依赖任务链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异常处置支线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86" name="" descr="&lt;Slide style={{ padding: 48, background: '#ffffff' }}&gt;&#10;  &lt;Text style={{ fontSize: 30, fontWeight: 'bold', color: '#0f172a', marginBottom: 8 }}&gt;关键验收案例&lt;/Text&gt;&#10;  &lt;Box style={{ width: 60, height: 5, background: '#1a73e8', borderRadius: 3, marginBottom: 24 }} /&gt;&#10;  &lt;Box style={{ flexDirection: 'row', gap: 16 }}&gt;&#10;    &lt;Box style={{ flex: 1, borderRadius: 12, padding: 22, background: '#f0f4f8', gap: 8 }}&gt;&#10;      &lt;Text style={{ fontSize: 40, fontWeight: 'bold', color: '#1a73e8' }}&gt;150/110/70&lt;/Text&gt;&#10;      &lt;Text style={{ fontSize: 15, color: '#334155', lineHeight: 1.5 }}&gt;电费 240 按 30/20/10 + 宽带 90 均分，个人应付 150/110/70 元（最大余数法，分位守恒）&lt;/Text&gt;&#10;    &lt;/Box&gt;&#10;    &lt;Box style={{ flex: 1, borderRadius: 12, padding: 22, background: '#f0f4f8', gap: 8 }}&gt;&#10;      &lt;Text style={{ fontSize: 40, fontWeight: 'bold', color: '#d93025' }}&gt;改口即冻结&lt;/Text&gt;&#10;      &lt;Text style={{ fontSize: 15, color: '#334155', lineHeight: 1.5 }}&gt;C 改入住天数→旧授权失效、未付款冻结、生成补付/退款草稿，已付款保留&lt;/Text&gt;&#10;    &lt;/Box&gt;&#10;    &lt;Box style={{ flex: 1, borderRadius: 12, padding: 22, background: '#f0f4f8', gap: 8 }}&gt;&#10;      &lt;Text style={{ fontSize: 40, fontWeight: 'bold', color: '#1e8e3e' }}&gt;68×2 核验&lt;/Text&gt;&#10;      &lt;Text style={{ fontSize: 15, color: '#334155', lineHeight: 1.5 }}&gt;两笔 68 元确认来自两个会员→撤回疑似重复，只取消本人订阅，保留已发生费用&lt;/Text&gt;&#10;    &lt;/Box&gt;&#10;  &lt;/Box&gt;&#10;  &lt;Box style={{ flexDirection: 'row', gap: 16, marginTop: 16 }}&gt;&#10;    &lt;Box style={{ flex: 1, borderRadius: 12, padding: 18, background: '#fce8e6', gap: 6 }}&gt;&#10;      &lt;Text style={{ fontSize: 16, fontWeight: 'bold', color: '#d93025' }}&gt;越权拒绝&lt;/Text&gt;&#10;      &lt;Text style={{ fontSize: 14, color: '#334155' }}&gt;「查 B 余额并替他付掉」→ 后端拒绝，共享页只显示进度&lt;/Text&gt;&#10;    &lt;/Box&gt;&#10;    &lt;Box style={{ flex: 1, borderRadius: 12, padding: 18, background: '#fce8e6', gap: 6 }}&gt;&#10;      &lt;Text style={{ fontSize: 16, fontWeight: 'bold', color: '#d93025' }}&gt;部分完成&lt;/Text&gt;&#10;      &lt;Text style={{ fontSize: 14, color: '#334155' }}&gt;A 已付、B 待赎回到账、C 未授权 → 真实部分完成，不标整体成功&lt;/Text&gt;&#10;    &lt;/Box&gt;&#10;    &lt;Box style={{ flex: 1, borderRadius: 12, padding: 18, background: '#fce8e6', gap: 6 }}&gt;&#10;      &lt;Text style={{ fontSize: 16, fontWeight: 'bold', color: '#d93025' }}&gt;超时恢复&lt;/Text&gt;&#10;      &lt;Text style={{ fontSize: 14, color: '#334155' }}&gt;转账成功但响应超时 → 查原交易恢复回执，不重复付款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57200" y="457200"/>
            <a:ext cx="11277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关键验收案例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57200" y="876300"/>
            <a:ext cx="571500" cy="47625"/>
          </a:xfrm>
          <a:prstGeom prst="roundRect">
            <a:avLst>
              <a:gd name="adj" fmla="val 60000"/>
            </a:avLst>
          </a:prstGeom>
          <a:solidFill>
            <a:srgbClr val="1A73E8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457200" y="1152525"/>
            <a:ext cx="3657600" cy="1466850"/>
          </a:xfrm>
          <a:prstGeom prst="roundRect">
            <a:avLst>
              <a:gd name="adj" fmla="val 7792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66750" y="1362075"/>
            <a:ext cx="32385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A73E8"/>
                </a:solidFill>
                <a:latin typeface="Microsoft YaHei"/>
                <a:ea typeface="Microsoft YaHei"/>
              </a:rPr>
              <a:t>150/110/70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66750" y="1895475"/>
            <a:ext cx="3238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电费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240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按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30/20/10 +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宽带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90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均分，个人应付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150/110/70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元（最大余数法，分位守恒）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267200" y="1152525"/>
            <a:ext cx="3657600" cy="1466850"/>
          </a:xfrm>
          <a:prstGeom prst="roundRect">
            <a:avLst>
              <a:gd name="adj" fmla="val 7792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476750" y="1362075"/>
            <a:ext cx="32385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D93025"/>
                </a:solidFill>
                <a:latin typeface="Microsoft YaHei"/>
                <a:ea typeface="Microsoft YaHei"/>
              </a:rPr>
              <a:t>改口即冻结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476750" y="1895475"/>
            <a:ext cx="3238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改入住天数→旧授权失效、未付款冻结、生成补付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退款草稿，已付款保留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077200" y="1152525"/>
            <a:ext cx="3657600" cy="1466850"/>
          </a:xfrm>
          <a:prstGeom prst="roundRect">
            <a:avLst>
              <a:gd name="adj" fmla="val 7792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286750" y="1362075"/>
            <a:ext cx="32385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8E3E"/>
                </a:solidFill>
                <a:latin typeface="Microsoft YaHei"/>
                <a:ea typeface="Microsoft YaHei"/>
              </a:rPr>
              <a:t xml:space="preserve">68×2 </a:t>
            </a:r>
            <a:r>
              <a:rPr lang="zh-CN" sz="3000" b="1">
                <a:solidFill>
                  <a:srgbClr val="1E8E3E"/>
                </a:solidFill>
                <a:latin typeface="Microsoft YaHei"/>
                <a:ea typeface="Microsoft YaHei"/>
              </a:rPr>
              <a:t>核验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286750" y="1895475"/>
            <a:ext cx="3238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两笔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68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元确认来自两个会员→撤回疑似重复，只取消本人订阅，保留已发生费用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457200" y="2771775"/>
            <a:ext cx="3657600" cy="914400"/>
          </a:xfrm>
          <a:prstGeom prst="roundRect">
            <a:avLst>
              <a:gd name="adj" fmla="val 12500"/>
            </a:avLst>
          </a:prstGeom>
          <a:solidFill>
            <a:srgbClr val="FCE8E6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28650" y="2943225"/>
            <a:ext cx="331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93025"/>
                </a:solidFill>
                <a:latin typeface="Microsoft YaHei"/>
                <a:ea typeface="Microsoft YaHei"/>
              </a:rPr>
              <a:t>越权拒绝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28650" y="3190875"/>
            <a:ext cx="33147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「查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余额并替他付掉」→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后端拒绝，共享页只显示进度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4267200" y="2771775"/>
            <a:ext cx="3657600" cy="914400"/>
          </a:xfrm>
          <a:prstGeom prst="roundRect">
            <a:avLst>
              <a:gd name="adj" fmla="val 12500"/>
            </a:avLst>
          </a:prstGeom>
          <a:solidFill>
            <a:srgbClr val="FCE8E6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438650" y="2943225"/>
            <a:ext cx="331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93025"/>
                </a:solidFill>
                <a:latin typeface="Microsoft YaHei"/>
                <a:ea typeface="Microsoft YaHei"/>
              </a:rPr>
              <a:t>部分完成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438650" y="3190875"/>
            <a:ext cx="33147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已付、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待赎回到账、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未授权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真实部分完成，不标整体成功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8077200" y="2771775"/>
            <a:ext cx="3657600" cy="914400"/>
          </a:xfrm>
          <a:prstGeom prst="roundRect">
            <a:avLst>
              <a:gd name="adj" fmla="val 12500"/>
            </a:avLst>
          </a:prstGeom>
          <a:solidFill>
            <a:srgbClr val="FCE8E6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248650" y="2943225"/>
            <a:ext cx="331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93025"/>
                </a:solidFill>
                <a:latin typeface="Microsoft YaHei"/>
                <a:ea typeface="Microsoft YaHei"/>
              </a:rPr>
              <a:t>超时恢复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248650" y="319087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转账成功但响应超时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查原交易恢复回执，不重复付款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08" name="" descr="&lt;Slide style={{ padding: 48, background: '#ffffff' }}&gt;&#10;  &lt;Text style={{ fontSize: 30, fontWeight: 'bold', color: '#0f172a', marginBottom: 8 }}&gt;权限分级（确定性策略引擎）&lt;/Text&gt;&#10;  &lt;Box style={{ width: 60, height: 5, background: '#1a73e8', borderRadius: 3, marginBottom: 24 }} /&gt;&#10;  &lt;Box style={{ flexDirection: 'row', gap: 16 }}&gt;&#10;    &lt;Box style={{ flex: 1, borderRadius: 12, padding: 24, background: '#e6f4ea', borderTop: '5px solid #1e8e3e', gap: 8 }}&gt;&#10;      &lt;Text style={{ fontSize: 22, fontWeight: 'bold', color: '#1e8e3e' }}&gt;绿色 · 自动执行&lt;/Text&gt;&#10;      &lt;Text style={{ fontSize: 15, color: '#334155', lineHeight: 1.6 }}&gt;余额、交易记录、账单分析、理财收益等纯查询&lt;/Text&gt;&#10;    &lt;/Box&gt;&#10;    &lt;Box style={{ flex: 1, borderRadius: 12, padding: 24, background: '#fef7e0', borderTop: '5px solid #b26a00', gap: 8 }}&gt;&#10;      &lt;Text style={{ fontSize: 22, fontWeight: 'bold', color: '#b26a00' }}&gt;黄色 · 确认后执行&lt;/Text&gt;&#10;      &lt;Text style={{ fontSize: 15, color: '#334155', lineHeight: 1.6 }}&gt;日累计 ≤1000 元转账、订阅查询/取消、虚拟卡申请&lt;/Text&gt;&#10;    &lt;/Box&gt;&#10;    &lt;Box style={{ flex: 1, borderRadius: 12, padding: 24, background: '#fce8e6', borderTop: '5px solid #d93025', gap: 8 }}&gt;&#10;      &lt;Text style={{ fontSize: 22, fontWeight: 'bold', color: '#d93025' }}&gt;红色 · 强验证&lt;/Text&gt;&#10;      &lt;Text style={{ fontSize: 15, color: '#334155', lineHeight: 1.6 }}&gt;日累计超过 1000 元转账、密码修改、挂失/解挂、理财申购&lt;/Text&gt;&#10;    &lt;/Box&gt;&#10;  &lt;/Box&gt;&#10;  &lt;Box style={{ marginTop: 20, borderRadius: 12, padding: 20, background: '#f0f4f8', gap: 8 }}&gt;&#10;    &lt;Text style={{ fontSize: 17, fontWeight: 'bold', color: '#0f172a' }}&gt;关键规则&lt;/Text&gt;&#10;    &lt;Text style={{ fontSize: 15, color: '#334155', lineHeight: 1.7 }}&gt;&#10;      金额统一&lt;span style={{ fontWeight: 'bold', color: '#1a73e8' }}&gt;整数分&lt;/span&gt;；执行前原子校验日累计/余额/预留/授权。&lt;br /&gt;&#10;      先转 800 再转 300 → 日累计 1100 → &lt;span style={{ fontWeight: 'bold', color: '#d93025' }}&gt;第二笔升级红色&lt;/span&gt;；不能拆单/并发/跨会话绕过。&lt;br /&gt;&#10;      赎回、额度调整、交易限制/解锁官网未明确 → &lt;span style={{ fontWeight: 'bold' }}&gt;保守按红色处理（团队策略）&lt;/span&gt;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57200" y="457200"/>
            <a:ext cx="11277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权限分级（确定性策略引擎）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457200" y="876300"/>
            <a:ext cx="571500" cy="47625"/>
          </a:xfrm>
          <a:prstGeom prst="roundRect">
            <a:avLst>
              <a:gd name="adj" fmla="val 60000"/>
            </a:avLst>
          </a:prstGeom>
          <a:solidFill>
            <a:srgbClr val="1A73E8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457200" y="1200150"/>
            <a:ext cx="3657600" cy="1390650"/>
          </a:xfrm>
          <a:prstGeom prst="roundRect">
            <a:avLst>
              <a:gd name="adj" fmla="val 8219"/>
            </a:avLst>
          </a:prstGeom>
          <a:solidFill>
            <a:srgbClr val="E6F4EA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457200" y="1200150"/>
            <a:ext cx="3657600" cy="1390650"/>
          </a:xfrm>
          <a:custGeom>
            <a:pathLst>
              <a:path w="384" h="146">
                <a:moveTo>
                  <a:pt x="373" y="0"/>
                </a:moveTo>
                <a:cubicBezTo>
                  <a:pt x="378" y="0"/>
                  <a:pt x="383" y="4"/>
                  <a:pt x="384" y="10"/>
                </a:cubicBezTo>
                <a:cubicBezTo>
                  <a:pt x="383" y="7"/>
                  <a:pt x="380" y="5"/>
                  <a:pt x="377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1E8E3E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85800" y="1428750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8E3E"/>
                </a:solidFill>
                <a:latin typeface="Microsoft YaHei"/>
                <a:ea typeface="Microsoft YaHei"/>
              </a:rPr>
              <a:t>绿色</a:t>
            </a:r>
            <a:r>
              <a:rPr lang="en-US" sz="1650" b="1">
                <a:solidFill>
                  <a:srgbClr val="1E8E3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1E8E3E"/>
                </a:solidFill>
                <a:latin typeface="Microsoft YaHei"/>
                <a:ea typeface="Microsoft YaHei"/>
              </a:rPr>
              <a:t>自动执行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85800" y="1762125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余额、交易记录、账单分析、理财收益等纯查询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4267200" y="1200150"/>
            <a:ext cx="3657600" cy="1390650"/>
          </a:xfrm>
          <a:prstGeom prst="roundRect">
            <a:avLst>
              <a:gd name="adj" fmla="val 8219"/>
            </a:avLst>
          </a:prstGeom>
          <a:solidFill>
            <a:srgbClr val="FEF7E0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4267200" y="1200150"/>
            <a:ext cx="3657600" cy="1390650"/>
          </a:xfrm>
          <a:custGeom>
            <a:pathLst>
              <a:path w="384" h="146">
                <a:moveTo>
                  <a:pt x="373" y="0"/>
                </a:moveTo>
                <a:cubicBezTo>
                  <a:pt x="378" y="0"/>
                  <a:pt x="383" y="4"/>
                  <a:pt x="384" y="10"/>
                </a:cubicBezTo>
                <a:cubicBezTo>
                  <a:pt x="383" y="7"/>
                  <a:pt x="380" y="5"/>
                  <a:pt x="377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B26A00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495800" y="1428750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B26A00"/>
                </a:solidFill>
                <a:latin typeface="Microsoft YaHei"/>
                <a:ea typeface="Microsoft YaHei"/>
              </a:rPr>
              <a:t>黄色</a:t>
            </a:r>
            <a:r>
              <a:rPr lang="en-US" sz="1650" b="1">
                <a:solidFill>
                  <a:srgbClr val="B26A0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B26A00"/>
                </a:solidFill>
                <a:latin typeface="Microsoft YaHei"/>
                <a:ea typeface="Microsoft YaHei"/>
              </a:rPr>
              <a:t>确认后执行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495800" y="1762125"/>
            <a:ext cx="3200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日累计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≤1000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元转账、订阅查询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取消、虚拟卡申请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8077200" y="1200150"/>
            <a:ext cx="3657600" cy="1390650"/>
          </a:xfrm>
          <a:prstGeom prst="roundRect">
            <a:avLst>
              <a:gd name="adj" fmla="val 8219"/>
            </a:avLst>
          </a:prstGeom>
          <a:solidFill>
            <a:srgbClr val="FCE8E6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8077200" y="1200150"/>
            <a:ext cx="3657600" cy="1390650"/>
          </a:xfrm>
          <a:custGeom>
            <a:pathLst>
              <a:path w="384" h="146">
                <a:moveTo>
                  <a:pt x="373" y="0"/>
                </a:moveTo>
                <a:cubicBezTo>
                  <a:pt x="378" y="0"/>
                  <a:pt x="383" y="4"/>
                  <a:pt x="384" y="10"/>
                </a:cubicBezTo>
                <a:cubicBezTo>
                  <a:pt x="383" y="7"/>
                  <a:pt x="380" y="5"/>
                  <a:pt x="377" y="5"/>
                </a:cubicBezTo>
                <a:lnTo>
                  <a:pt x="7" y="5"/>
                </a:lnTo>
                <a:cubicBezTo>
                  <a:pt x="4" y="5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D93025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305800" y="1428750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93025"/>
                </a:solidFill>
                <a:latin typeface="Microsoft YaHei"/>
                <a:ea typeface="Microsoft YaHei"/>
              </a:rPr>
              <a:t>红色</a:t>
            </a:r>
            <a:r>
              <a:rPr lang="en-US" sz="1650" b="1">
                <a:solidFill>
                  <a:srgbClr val="D9302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D93025"/>
                </a:solidFill>
                <a:latin typeface="Microsoft YaHei"/>
                <a:ea typeface="Microsoft YaHei"/>
              </a:rPr>
              <a:t>强验证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305800" y="1762125"/>
            <a:ext cx="3200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日累计超过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1000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元转账、密码修改、挂失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解挂、理财申购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457200" y="2733675"/>
            <a:ext cx="11277600" cy="1533525"/>
          </a:xfrm>
          <a:prstGeom prst="roundRect">
            <a:avLst>
              <a:gd name="adj" fmla="val 7453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47700" y="2924175"/>
            <a:ext cx="10896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关键规则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47700" y="3200400"/>
            <a:ext cx="10896600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金额统一</a:t>
            </a:r>
            <a:r>
              <a:rPr lang="zh-CN" sz="1125" b="1">
                <a:solidFill>
                  <a:srgbClr val="1A73E8"/>
                </a:solidFill>
                <a:latin typeface="Microsoft YaHei"/>
                <a:ea typeface="Microsoft YaHei"/>
              </a:rPr>
              <a:t>整数分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；执行前原子校验日累计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余额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预留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授权。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先转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800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再转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300 →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日累计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1100 → </a:t>
            </a:r>
            <a:r>
              <a:rPr lang="zh-CN" sz="1125" b="1">
                <a:solidFill>
                  <a:srgbClr val="D93025"/>
                </a:solidFill>
                <a:latin typeface="Microsoft YaHei"/>
                <a:ea typeface="Microsoft YaHei"/>
              </a:rPr>
              <a:t>第二笔升级红色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；不能拆单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并发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跨会话绕过。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赎回、额度调整、交易限制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解锁官网未明确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 b="1">
                <a:solidFill>
                  <a:srgbClr val="334155"/>
                </a:solidFill>
                <a:latin typeface="Microsoft YaHei"/>
                <a:ea typeface="Microsoft YaHei"/>
              </a:rPr>
              <a:t>保守按红色处理（团队策略）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27" name="" descr="&lt;Slide style={{ padding: 48, background: '#ffffff' }}&gt;&#10;  &lt;Text style={{ fontSize: 30, fontWeight: 'bold', color: '#0f172a', marginBottom: 8 }}&gt;安全设计&lt;/Text&gt;&#10;  &lt;Box style={{ width: 60, height: 5, background: '#1a73e8', borderRadius: 3, marginBottom: 24 }} /&gt;&#10;  &lt;Box style={{ flexDirection: 'row', flexWrap: 'wrap', gap: 12 }}&gt;&#10;    {[&#10;      { t: '确定性权限', d: '模型/前端/用户文本不可降级' },&#10;      { t: '防编造结果', d: '回执仅来自授权工具回读' },&#10;      { t: '防提示注入', d: '备注/检索结果作为不可信数据' },&#10;      { t: '对象级权限', d: '服务端按身份过滤，跨库隔离' },&#10;      { t: '幂等防重', d: '幂等键 + 原子 UPDATE' },&#10;      { t: '强验证', d: '挑战·过期·一次性·防重放·限次' },&#10;      { t: '完整审计', d: '身份/意图/决策/证据/回执（不含密钥）' },&#10;      { t: '熔断锁定', d: '连续失败熔断，阈值团队配置' },&#10;      { t: '受限环境', d: '默认禁用任意代码执行' },&#10;    ].map((x, i) =&gt; (&#10;      &lt;Box key={i} style={{ width: 380, borderRadius: 10, padding: 18, background: '#f0f4f8', gap: 6, borderLeft: '4px solid #1a73e8' }}&gt;&#10;        &lt;Text style={{ fontSize: 17, fontWeight: 'bold', color: '#0f172a' }}&gt;{x.t}&lt;/Text&gt;&#10;        &lt;Text style={{ fontSize: 13, color: '#64748b' }}&gt;{x.d}&lt;/Text&gt;&#10;      &lt;/Box&gt;&#10;    ))}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57200" y="457200"/>
            <a:ext cx="11277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安全设计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457200" y="876300"/>
            <a:ext cx="571500" cy="47625"/>
          </a:xfrm>
          <a:prstGeom prst="roundRect">
            <a:avLst>
              <a:gd name="adj" fmla="val 60000"/>
            </a:avLst>
          </a:prstGeom>
          <a:solidFill>
            <a:srgbClr val="1A73E8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495300" y="1152525"/>
            <a:ext cx="3581400" cy="752475"/>
          </a:xfrm>
          <a:prstGeom prst="roundRect">
            <a:avLst>
              <a:gd name="adj" fmla="val 12658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495300" y="1152525"/>
            <a:ext cx="3581400" cy="752475"/>
          </a:xfrm>
          <a:custGeom>
            <a:pathLst>
              <a:path w="376" h="7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3"/>
                </a:lnTo>
                <a:cubicBezTo>
                  <a:pt x="4" y="76"/>
                  <a:pt x="6" y="78"/>
                  <a:pt x="9" y="79"/>
                </a:cubicBezTo>
                <a:cubicBezTo>
                  <a:pt x="4" y="78"/>
                  <a:pt x="0" y="74"/>
                  <a:pt x="0" y="6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66750" y="1323975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确定性权限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66750" y="1581150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模型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前端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用户文本不可降级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229100" y="1152525"/>
            <a:ext cx="3581400" cy="752475"/>
          </a:xfrm>
          <a:prstGeom prst="roundRect">
            <a:avLst>
              <a:gd name="adj" fmla="val 12658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4229100" y="1152525"/>
            <a:ext cx="3581400" cy="752475"/>
          </a:xfrm>
          <a:custGeom>
            <a:pathLst>
              <a:path w="376" h="7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3"/>
                </a:lnTo>
                <a:cubicBezTo>
                  <a:pt x="4" y="76"/>
                  <a:pt x="6" y="78"/>
                  <a:pt x="9" y="79"/>
                </a:cubicBezTo>
                <a:cubicBezTo>
                  <a:pt x="4" y="78"/>
                  <a:pt x="0" y="74"/>
                  <a:pt x="0" y="6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400550" y="1323975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防编造结果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400550" y="1581150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回执仅来自授权工具回读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7962900" y="1152525"/>
            <a:ext cx="3581400" cy="752475"/>
          </a:xfrm>
          <a:prstGeom prst="roundRect">
            <a:avLst>
              <a:gd name="adj" fmla="val 12658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7962900" y="1152525"/>
            <a:ext cx="3581400" cy="752475"/>
          </a:xfrm>
          <a:custGeom>
            <a:pathLst>
              <a:path w="376" h="7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3"/>
                </a:lnTo>
                <a:cubicBezTo>
                  <a:pt x="4" y="76"/>
                  <a:pt x="6" y="78"/>
                  <a:pt x="9" y="79"/>
                </a:cubicBezTo>
                <a:cubicBezTo>
                  <a:pt x="4" y="78"/>
                  <a:pt x="0" y="74"/>
                  <a:pt x="0" y="6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134350" y="1323975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防提示注入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134350" y="1581150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备注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检索结果作为不可信数据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495300" y="2019300"/>
            <a:ext cx="3581400" cy="752475"/>
          </a:xfrm>
          <a:prstGeom prst="roundRect">
            <a:avLst>
              <a:gd name="adj" fmla="val 12658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495300" y="2019300"/>
            <a:ext cx="3581400" cy="752475"/>
          </a:xfrm>
          <a:custGeom>
            <a:pathLst>
              <a:path w="376" h="7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3"/>
                </a:lnTo>
                <a:cubicBezTo>
                  <a:pt x="4" y="76"/>
                  <a:pt x="6" y="78"/>
                  <a:pt x="9" y="79"/>
                </a:cubicBezTo>
                <a:cubicBezTo>
                  <a:pt x="4" y="78"/>
                  <a:pt x="0" y="74"/>
                  <a:pt x="0" y="6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66750" y="219075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对象级权限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66750" y="2447925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服务端按身份过滤，跨库隔离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4229100" y="2019300"/>
            <a:ext cx="3581400" cy="752475"/>
          </a:xfrm>
          <a:prstGeom prst="roundRect">
            <a:avLst>
              <a:gd name="adj" fmla="val 12658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4229100" y="2019300"/>
            <a:ext cx="3581400" cy="752475"/>
          </a:xfrm>
          <a:custGeom>
            <a:pathLst>
              <a:path w="376" h="7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3"/>
                </a:lnTo>
                <a:cubicBezTo>
                  <a:pt x="4" y="76"/>
                  <a:pt x="6" y="78"/>
                  <a:pt x="9" y="79"/>
                </a:cubicBezTo>
                <a:cubicBezTo>
                  <a:pt x="4" y="78"/>
                  <a:pt x="0" y="74"/>
                  <a:pt x="0" y="6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400550" y="219075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幂等防重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400550" y="2447925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幂等键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原子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UPDATE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7962900" y="2019300"/>
            <a:ext cx="3581400" cy="752475"/>
          </a:xfrm>
          <a:prstGeom prst="roundRect">
            <a:avLst>
              <a:gd name="adj" fmla="val 12658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7962900" y="2019300"/>
            <a:ext cx="3581400" cy="752475"/>
          </a:xfrm>
          <a:custGeom>
            <a:pathLst>
              <a:path w="376" h="7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3"/>
                </a:lnTo>
                <a:cubicBezTo>
                  <a:pt x="4" y="76"/>
                  <a:pt x="6" y="78"/>
                  <a:pt x="9" y="79"/>
                </a:cubicBezTo>
                <a:cubicBezTo>
                  <a:pt x="4" y="78"/>
                  <a:pt x="0" y="74"/>
                  <a:pt x="0" y="6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134350" y="219075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强验证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134350" y="2447925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挑战·过期·一次性·防重放·限次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495300" y="2886075"/>
            <a:ext cx="3581400" cy="752475"/>
          </a:xfrm>
          <a:prstGeom prst="roundRect">
            <a:avLst>
              <a:gd name="adj" fmla="val 12658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495300" y="2886075"/>
            <a:ext cx="3581400" cy="752475"/>
          </a:xfrm>
          <a:custGeom>
            <a:pathLst>
              <a:path w="376" h="7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3"/>
                </a:lnTo>
                <a:cubicBezTo>
                  <a:pt x="4" y="76"/>
                  <a:pt x="6" y="78"/>
                  <a:pt x="9" y="79"/>
                </a:cubicBezTo>
                <a:cubicBezTo>
                  <a:pt x="4" y="78"/>
                  <a:pt x="0" y="74"/>
                  <a:pt x="0" y="6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66750" y="3057525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完整审计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66750" y="3314700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身份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意图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决策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证据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回执（不含密钥）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4229100" y="2886075"/>
            <a:ext cx="3581400" cy="752475"/>
          </a:xfrm>
          <a:prstGeom prst="roundRect">
            <a:avLst>
              <a:gd name="adj" fmla="val 12658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4229100" y="2886075"/>
            <a:ext cx="3581400" cy="752475"/>
          </a:xfrm>
          <a:custGeom>
            <a:pathLst>
              <a:path w="376" h="7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3"/>
                </a:lnTo>
                <a:cubicBezTo>
                  <a:pt x="4" y="76"/>
                  <a:pt x="6" y="78"/>
                  <a:pt x="9" y="79"/>
                </a:cubicBezTo>
                <a:cubicBezTo>
                  <a:pt x="4" y="78"/>
                  <a:pt x="0" y="74"/>
                  <a:pt x="0" y="6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400550" y="3057525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熔断锁定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400550" y="3314700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连续失败熔断，阈值团队配置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7962900" y="2886075"/>
            <a:ext cx="3581400" cy="752475"/>
          </a:xfrm>
          <a:prstGeom prst="roundRect">
            <a:avLst>
              <a:gd name="adj" fmla="val 12658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7962900" y="2886075"/>
            <a:ext cx="3581400" cy="752475"/>
          </a:xfrm>
          <a:custGeom>
            <a:pathLst>
              <a:path w="376" h="7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3"/>
                </a:lnTo>
                <a:cubicBezTo>
                  <a:pt x="4" y="76"/>
                  <a:pt x="6" y="78"/>
                  <a:pt x="9" y="79"/>
                </a:cubicBezTo>
                <a:cubicBezTo>
                  <a:pt x="4" y="78"/>
                  <a:pt x="0" y="74"/>
                  <a:pt x="0" y="6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A73E8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134350" y="3057525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受限环境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134350" y="3314700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默认禁用任意代码执行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67" name="" descr="&lt;Slide style={{ padding: 48, background: '#ffffff' }}&gt;&#10;  &lt;Text style={{ fontSize: 30, fontWeight: 'bold', color: '#0f172a', marginBottom: 8 }}&gt;跨场景联动（有依赖的任务链）&lt;/Text&gt;&#10;  &lt;Box style={{ width: 60, height: 5, background: '#1a73e8', borderRadius: 3, marginBottom: 24 }} /&gt;&#10;  &lt;Box style={{ flexDirection: 'row', alignItems: 'center', gap: 6, marginBottom: 18 }}&gt;&#10;    {[&#10;      '核验共同账单', '确认分摊规则', '资金预留/赎回', '到账后本人付款', '回执对账'&#10;    ].map((x, i, arr) =&gt; (&#10;      &lt;Box key={i} style={{ flexDirection: 'row', alignItems: 'center', gap: 6 }}&gt;&#10;        &lt;Box style={{ borderRadius: 10, padding: 14, background: '#e8f0fe', border: '1px solid #1a73e8' }}&gt;&#10;          &lt;Text style={{ fontSize: 14, fontWeight: 'bold', color: '#1a73e8' }}&gt;{x}&lt;/Text&gt;&#10;        &lt;/Box&gt;&#10;        {i &lt; arr.length - 1 &amp;&amp; &lt;Text style={{ fontSize: 18, color: '#94a3b8' }}&gt;→&lt;/Text&gt;}&#10;      &lt;/Box&gt;&#10;    ))}&#10;  &lt;/Box&gt;&#10;  &lt;Box style={{ flexDirection: 'row', gap: 16 }}&gt;&#10;    &lt;Box style={{ flex: 1, borderRadius: 12, padding: 20, background: '#f0f4f8', gap: 8 }}&gt;&#10;      &lt;Text style={{ fontSize: 17, fontWeight: 'bold', color: '#0f172a' }}&gt;异常处置支线&lt;/Text&gt;&#10;      &lt;Text style={{ fontSize: 14, color: '#334155', lineHeight: 1.7 }}&gt;&#10;        异常扣费 → 证据核验 → 本人选择&lt;br /&gt;&lt;span style={{ fontWeight: 'bold' }}&gt;订阅取消 / 卡片限制 / 挂失&lt;/span&gt;&#10;      &lt;/Text&gt;&#10;    &lt;/Box&gt;&#10;    &lt;Box style={{ flex: 1, borderRadius: 12, padding: 20, background: '#f0f4f8', gap: 8 }}&gt;&#10;      &lt;Text style={{ fontSize: 17, fontWeight: 'bold', color: '#0f172a' }}&gt;状态机约束&lt;/Text&gt;&#10;      &lt;Text style={{ fontSize: 14, color: '#334155', lineHeight: 1.7 }}&gt;&#10;        前一步&lt;span style={{ fontWeight: 'bold', color: '#d93025' }}&gt;真实状态约束后一步&lt;/span&gt;；依赖失败→后序跳过；已执行只能生成补偿，不删流水。&#10;      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57200" y="457200"/>
            <a:ext cx="11277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跨场景联动（有依赖的任务链）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457200" y="876300"/>
            <a:ext cx="571500" cy="47625"/>
          </a:xfrm>
          <a:prstGeom prst="roundRect">
            <a:avLst>
              <a:gd name="adj" fmla="val 60000"/>
            </a:avLst>
          </a:prstGeom>
          <a:solidFill>
            <a:srgbClr val="1A73E8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457200" y="1152525"/>
            <a:ext cx="1066800" cy="428625"/>
          </a:xfrm>
          <a:prstGeom prst="roundRect">
            <a:avLst>
              <a:gd name="adj" fmla="val 22222"/>
            </a:avLst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90550" y="12858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73E8"/>
                </a:solidFill>
                <a:latin typeface="Microsoft YaHei"/>
                <a:ea typeface="Microsoft YaHei"/>
              </a:rPr>
              <a:t>核验共同账单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581150" y="12668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1809750" y="1152525"/>
            <a:ext cx="1066800" cy="428625"/>
          </a:xfrm>
          <a:prstGeom prst="roundRect">
            <a:avLst>
              <a:gd name="adj" fmla="val 22222"/>
            </a:avLst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943100" y="12858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73E8"/>
                </a:solidFill>
                <a:latin typeface="Microsoft YaHei"/>
                <a:ea typeface="Microsoft YaHei"/>
              </a:rPr>
              <a:t>确认分摊规则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2933700" y="12668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3162300" y="1152525"/>
            <a:ext cx="1133475" cy="428625"/>
          </a:xfrm>
          <a:prstGeom prst="roundRect">
            <a:avLst>
              <a:gd name="adj" fmla="val 22222"/>
            </a:avLst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295650" y="1285875"/>
            <a:ext cx="866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73E8"/>
                </a:solidFill>
                <a:latin typeface="Microsoft YaHei"/>
                <a:ea typeface="Microsoft YaHei"/>
              </a:rPr>
              <a:t>资金预留</a:t>
            </a:r>
            <a:r>
              <a:rPr lang="en-US" sz="1050" b="1">
                <a:solidFill>
                  <a:srgbClr val="1A73E8"/>
                </a:solidFill>
                <a:latin typeface="Microsoft YaHei"/>
                <a:ea typeface="Microsoft YaHei"/>
              </a:rPr>
              <a:t>/</a:t>
            </a:r>
            <a:r>
              <a:rPr lang="zh-CN" sz="1050" b="1">
                <a:solidFill>
                  <a:srgbClr val="1A73E8"/>
                </a:solidFill>
                <a:latin typeface="Microsoft YaHei"/>
                <a:ea typeface="Microsoft YaHei"/>
              </a:rPr>
              <a:t>赎回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352925" y="12668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4581525" y="1152525"/>
            <a:ext cx="1200150" cy="428625"/>
          </a:xfrm>
          <a:prstGeom prst="roundRect">
            <a:avLst>
              <a:gd name="adj" fmla="val 22222"/>
            </a:avLst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714875" y="12858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73E8"/>
                </a:solidFill>
                <a:latin typeface="Microsoft YaHei"/>
                <a:ea typeface="Microsoft YaHei"/>
              </a:rPr>
              <a:t>到账后本人付款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838825" y="12668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067425" y="1152525"/>
            <a:ext cx="800100" cy="428625"/>
          </a:xfrm>
          <a:prstGeom prst="roundRect">
            <a:avLst>
              <a:gd name="adj" fmla="val 22222"/>
            </a:avLst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200775" y="12858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73E8"/>
                </a:solidFill>
                <a:latin typeface="Microsoft YaHei"/>
                <a:ea typeface="Microsoft YaHei"/>
              </a:rPr>
              <a:t>回执对账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457200" y="1752600"/>
            <a:ext cx="5562600" cy="1209675"/>
          </a:xfrm>
          <a:prstGeom prst="roundRect">
            <a:avLst>
              <a:gd name="adj" fmla="val 9449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47700" y="1943100"/>
            <a:ext cx="5181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异常处置支线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47700" y="2219325"/>
            <a:ext cx="5181600" cy="552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异常扣费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证据核验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本人选择</a:t>
            </a:r>
            <a:endParaRPr/>
          </a:p>
          <a:p>
            <a:pPr>
              <a:lnSpc>
                <a:spcPct val="170000"/>
              </a:lnSpc>
            </a:pP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订阅取消</a:t>
            </a:r>
            <a:r>
              <a:rPr lang="en-US" sz="1050" b="1">
                <a:solidFill>
                  <a:srgbClr val="334155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卡片限制</a:t>
            </a:r>
            <a:r>
              <a:rPr lang="en-US" sz="1050" b="1">
                <a:solidFill>
                  <a:srgbClr val="334155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挂失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172200" y="1752600"/>
            <a:ext cx="5562600" cy="1209675"/>
          </a:xfrm>
          <a:prstGeom prst="roundRect">
            <a:avLst>
              <a:gd name="adj" fmla="val 9449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362700" y="1943100"/>
            <a:ext cx="5181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状态机约束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362700" y="2219325"/>
            <a:ext cx="51816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前一步</a:t>
            </a:r>
            <a:r>
              <a:rPr lang="zh-CN" sz="1050" b="1">
                <a:solidFill>
                  <a:srgbClr val="D93025"/>
                </a:solidFill>
                <a:latin typeface="Microsoft YaHei"/>
                <a:ea typeface="Microsoft YaHei"/>
              </a:rPr>
              <a:t>真实状态约束后一步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；依赖失败→后序跳过；已执行只能生成补偿，不删流水。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91" name="" descr="&lt;Slide style={{ padding: 48, background: '#ffffff' }}&gt;&#10;  &lt;Text style={{ fontSize: 30, fontWeight: 'bold', color: '#0f172a', marginBottom: 8 }}&gt;测试与结果&lt;/Text&gt;&#10;  &lt;Box style={{ width: 60, height: 5, background: '#1a73e8', borderRadius: 3, marginBottom: 24 }} /&gt;&#10;  &lt;Box style={{ flexDirection: 'row', alignItems: 'center', gap: 30 }}&gt;&#10;    &lt;Box style={{ width: 240, height: 240, borderRadius: 120, background: '#e6f4ea', alignItems: 'center', justifyContent: 'center', gap: 4 }}&gt;&#10;      &lt;Text style={{ fontSize: 60, fontWeight: 'bold', color: '#1e8e3e' }}&gt;128&lt;/Text&gt;&#10;      &lt;Text style={{ fontSize: 18, color: '#1e8e3e' }}&gt;条测试全部通过&lt;/Text&gt;&#10;    &lt;/Box&gt;&#10;    &lt;Box style={{ flex: 1, gap: 14 }}&gt;&#10;      &lt;Text style={{ fontSize: 16, color: '#334155', lineHeight: 1.8 }}&gt;&#10;        &lt;span style={{ fontWeight: 'bold' }}&gt;覆盖维度：&lt;/span&gt;六场景基础任务、多人隔离、金额守恒、规则版本、权限边界、注入攻击、幂等、并发、故障恢复、定时执行、完整交互流程。&#10;      &lt;/Text&gt;&#10;      &lt;Text style={{ fontSize: 16, color: '#334155', lineHeight: 1.8 }}&gt;&#10;        &lt;span style={{ fontWeight: 'bold' }}&gt;断言：&lt;/span&gt;不仅测 HTTP 成功，更断言资金、持仓、授权、账本、任务最终状态正确。&#10;      &lt;/Text&gt;&#10;      &lt;Text style={{ fontSize: 14, color: '#64748b' }}&gt;&#10;        测试规模为项目自定计划（沿用附件建议 120 条），非官方规定；零失误仅代表该测试集，不代表绝对安全。&#10;      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57200" y="457200"/>
            <a:ext cx="11277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测试与结果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457200" y="876300"/>
            <a:ext cx="571500" cy="47625"/>
          </a:xfrm>
          <a:prstGeom prst="roundRect">
            <a:avLst>
              <a:gd name="adj" fmla="val 60000"/>
            </a:avLst>
          </a:prstGeom>
          <a:solidFill>
            <a:srgbClr val="1A73E8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457200" y="1152525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066800" y="1828800"/>
            <a:ext cx="10668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1E8E3E"/>
                </a:solidFill>
                <a:latin typeface="Microsoft YaHei"/>
                <a:ea typeface="Microsoft YaHei"/>
              </a:rPr>
              <a:t>128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000125" y="25527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8E3E"/>
                </a:solidFill>
                <a:latin typeface="Microsoft YaHei"/>
                <a:ea typeface="Microsoft YaHei"/>
              </a:rPr>
              <a:t>条测试全部通过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028950" y="1581150"/>
            <a:ext cx="87058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 b="1">
                <a:solidFill>
                  <a:srgbClr val="334155"/>
                </a:solidFill>
                <a:latin typeface="Microsoft YaHei"/>
                <a:ea typeface="Microsoft YaHei"/>
              </a:rPr>
              <a:t>覆盖维度：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六场景基础任务、多人隔离、金额守恒、规则版本、权限边界、注入攻击、幂等、并发、故障恢复、定时执行、完整交互流程。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3028950" y="2381250"/>
            <a:ext cx="8705850" cy="3333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 b="1">
                <a:solidFill>
                  <a:srgbClr val="334155"/>
                </a:solidFill>
                <a:latin typeface="Microsoft YaHei"/>
                <a:ea typeface="Microsoft YaHei"/>
              </a:rPr>
              <a:t>断言：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不仅测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HTTP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成功，更断言资金、持仓、授权、账本、任务最终状态正确。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028950" y="2847975"/>
            <a:ext cx="870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测试规模为项目自定计划（沿用附件建议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120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条），非官方规定；零失误仅代表该测试集，不代表绝对安全。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8" name="" descr="&lt;Slide style={{ padding: 48, background: '#ffffff' }}&gt;&#10;  &lt;Text style={{ fontSize: 30, fontWeight: 'bold', color: '#0f172a', marginBottom: 8 }}&gt;创新点与对照&lt;/Text&gt;&#10;  &lt;Box style={{ width: 60, height: 5, background: '#1a73e8', borderRadius: 3, marginBottom: 24 }} /&gt;&#10;  &lt;Box style={{ flexDirection: 'row', gap: 16 }}&gt;&#10;    &lt;Box style={{ flex: 1, borderRadius: 12, padding: 22, background: '#f0f4f8', gap: 10 }}&gt;&#10;      &lt;Text style={{ fontSize: 18, fontWeight: 'bold', color: '#64748b' }}&gt;对照组（固定分摊·无证据卡）&lt;/Text&gt;&#10;      &lt;Text style={{ fontSize: 15, color: '#334155', lineHeight: 1.7 }}&gt;&#10;        规则变更后旧规则继续执行（错付）&lt;br /&gt;协调靠人工反复对齐&lt;br /&gt;同额即判盗刷/重复&lt;br /&gt;无结构化证据追问&#10;      &lt;/Text&gt;&#10;    &lt;/Box&gt;&#10;    &lt;Box style={{ flex: 1, borderRadius: 12, padding: 22, background: '#e8f0fe', gap: 10, border: '1px solid #1a73e8' }}&gt;&#10;      &lt;Text style={{ fontSize: 18, fontWeight: 'bold', color: '#1a73e8' }}&gt;共识护航（实验组）&lt;/Text&gt;&#10;      &lt;Text style={{ fontSize: 15, color: '#0f172a', lineHeight: 1.7 }}&gt;&#10;        旧授权失效、冻结未付款、补付/退款草稿&lt;br /&gt;版本化确认，只对受影响成员重确认&lt;br /&gt;证据卡待核验，追问后撤回或处置&lt;br /&gt;关联交易号/授权/时间/反馈&#10;      &lt;/Text&gt;&#10;    &lt;/Box&gt;&#10;  &lt;/Box&gt;&#10;  &lt;Box style={{ marginTop: 18, borderRadius: 12, padding: 18, background: '#fef7e0', gap: 6 }}&gt;&#10;    &lt;Text style={{ fontSize: 15, color: '#334155' }}&gt;&#10;      对照指标：规则变更错付数、旧授权执行数、协调轮次；异常查准率/查全率、正常交易误拦截、有效追问数。区分系统处理时间与等待成员确认时间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457200" y="457200"/>
            <a:ext cx="11277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创新点与对照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457200" y="876300"/>
            <a:ext cx="571500" cy="47625"/>
          </a:xfrm>
          <a:prstGeom prst="roundRect">
            <a:avLst>
              <a:gd name="adj" fmla="val 60000"/>
            </a:avLst>
          </a:prstGeom>
          <a:solidFill>
            <a:srgbClr val="1A73E8"/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457200" y="1152525"/>
            <a:ext cx="5562600" cy="1895475"/>
          </a:xfrm>
          <a:prstGeom prst="roundRect">
            <a:avLst>
              <a:gd name="adj" fmla="val 6030"/>
            </a:avLst>
          </a:prstGeom>
          <a:solidFill>
            <a:srgbClr val="F0F4F8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66750" y="1362075"/>
            <a:ext cx="514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对照组（固定分摊·无证据卡）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66750" y="1666875"/>
            <a:ext cx="5143500" cy="11715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规则变更后旧规则继续执行（错付）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协调靠人工反复对齐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同额即判盗刷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重复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无结构化证据追问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172200" y="1152525"/>
            <a:ext cx="5562600" cy="1895475"/>
          </a:xfrm>
          <a:prstGeom prst="roundRect">
            <a:avLst>
              <a:gd name="adj" fmla="val 6030"/>
            </a:avLst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381750" y="1362075"/>
            <a:ext cx="514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73E8"/>
                </a:solidFill>
                <a:latin typeface="Microsoft YaHei"/>
                <a:ea typeface="Microsoft YaHei"/>
              </a:rPr>
              <a:t>共识护航（实验组）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381750" y="1666875"/>
            <a:ext cx="5143500" cy="11715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旧授权失效、冻结未付款、补付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退款草稿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版本化确认，只对受影响成员重确认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证据卡待核验，追问后撤回或处置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关联交易号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授权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时间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反馈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457200" y="3219450"/>
            <a:ext cx="11277600" cy="514350"/>
          </a:xfrm>
          <a:prstGeom prst="roundRect">
            <a:avLst>
              <a:gd name="adj" fmla="val 22222"/>
            </a:avLst>
          </a:prstGeom>
          <a:solidFill>
            <a:srgbClr val="FEF7E0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28650" y="339090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对照指标：规则变更错付数、旧授权执行数、协调轮次；异常查准率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查全率、正常交易误拦截、有效追问数。区分系统处理时间与等待成员确认时间。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0" name="" descr="&lt;Slide style={{ padding: 48, background: '#0f172a' }}&gt;&#10;  &lt;Text style={{ fontSize: 30, fontWeight: 'bold', color: '#ffffff', marginBottom: 20 }}&gt;模拟边界与致谢&lt;/Text&gt;&#10;  &lt;Box style={{ gap: 14 }}&gt;&#10;    &lt;Box style={{ borderRadius: 12, padding: 20, background: '#1e293b', gap: 8 }}&gt;&#10;      &lt;Text style={{ fontSize: 17, fontWeight: 'bold', color: '#fca5a5' }}&gt;待确认事项（不宣称完全达标）&lt;/Text&gt;&#10;      &lt;Text style={{ fontSize: 15, color: '#e2e8f0', lineHeight: 1.7 }}&gt;&#10;        ① 模拟银行接口是否符合主办方验收口径&lt;br /&gt;② 模拟强验证（OTP）是否被接受为「强验证」&lt;br /&gt;③ GitHub 仓库地址待创建（不伪造链接）&#10;      &lt;/Text&gt;&#10;    &lt;/Box&gt;&#10;    &lt;Box style={{ borderRadius: 12, padding: 20, background: '#1e293b', gap: 8 }}&gt;&#10;      &lt;Text style={{ fontSize: 17, fontWeight: 'bold', color: '#93c5fd' }}&gt;声明&lt;/Text&gt;&#10;      &lt;Text style={{ fontSize: 15, color: '#e2e8f0', lineHeight: 1.7 }}&gt;&#10;        所有账户、交易与产品均为模拟/合成数据；离线测试模式不宣称真实模型接入。&#10;      &lt;/Text&gt;&#10;    &lt;/Box&gt;&#10;    &lt;Text style={{ fontSize: 20, fontWeight: 'bold', color: '#ffffff', marginTop: 8, textAlign: 'center' }}&gt;谢谢各位评委，恳请指正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457200" y="457200"/>
            <a:ext cx="11277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模拟边界与致谢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457200" y="990600"/>
            <a:ext cx="11277600" cy="1533525"/>
          </a:xfrm>
          <a:prstGeom prst="roundRect">
            <a:avLst>
              <a:gd name="adj" fmla="val 7453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47700" y="1181100"/>
            <a:ext cx="10896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CA5A5"/>
                </a:solidFill>
                <a:latin typeface="Microsoft YaHei"/>
                <a:ea typeface="Microsoft YaHei"/>
              </a:rPr>
              <a:t>待确认事项（不宣称完全达标）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47700" y="1457325"/>
            <a:ext cx="10896600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模拟银行接口是否符合主办方验收口径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模拟强验证（</a:t>
            </a: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>OTP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）是否被接受为「强验证」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③ GitHub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仓库地址待创建（不伪造链接）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457200" y="2657475"/>
            <a:ext cx="11277600" cy="9525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47700" y="2847975"/>
            <a:ext cx="10896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93C5FD"/>
                </a:solidFill>
                <a:latin typeface="Microsoft YaHei"/>
                <a:ea typeface="Microsoft YaHei"/>
              </a:rPr>
              <a:t>声明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47700" y="3124200"/>
            <a:ext cx="108966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所有账户、交易与产品均为模拟</a:t>
            </a: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合成数据；离线测试模式不宣称真实模型接入。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57200" y="3819525"/>
            <a:ext cx="112776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谢谢各位评委，恳请指正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2026-10-20T10:00:51Z</dcterms:created>
  <dcterms:modified xsi:type="dcterms:W3CDTF">2026-10-20T10:00:51Z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{"AIGC":{"Label":"1","ContentProducer":"00119111010856365494821B355","ProduceID":"01a156e2d4dc78ea841155fc2ef1b9b7","ReservedCode1":"","ContentPropagator":"00119111010856365494821B355","PropagateID":"01a156e2d4dc78ea841155fc2ef1b9b7","ReservedCode2":""}}</vt:lpwstr>
  </property>
</Properties>
</file>